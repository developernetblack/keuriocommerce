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36" r:id="rId1"/>
  </p:sldMasterIdLst>
  <p:notesMasterIdLst>
    <p:notesMasterId r:id="rId14"/>
  </p:notes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1" r:id="rId9"/>
    <p:sldId id="262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48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1DCA4-F6B6-4D26-986A-721BA3E7F9C7}" type="datetimeFigureOut">
              <a:rPr lang="es-PE" smtClean="0"/>
              <a:t>13/08/2025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2CB8B9-8471-4230-A6E0-471F2BA01BA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200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CB8B9-8471-4230-A6E0-471F2BA01BAF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1385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580F-B60D-567E-E62E-FD6ED17A0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38B9688-1BCD-89D8-FC6F-65BCB908F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A885CC1-7D30-F6B7-A619-137094369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E8596A-0EF0-5B3D-7BB8-F1DE35910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CB8B9-8471-4230-A6E0-471F2BA01BAF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0590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7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6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47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26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52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50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99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3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6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98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6918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22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45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57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38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14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970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  <p:sldLayoutId id="2147484248" r:id="rId12"/>
    <p:sldLayoutId id="2147484249" r:id="rId13"/>
    <p:sldLayoutId id="2147484250" r:id="rId14"/>
    <p:sldLayoutId id="2147484251" r:id="rId15"/>
    <p:sldLayoutId id="2147484252" r:id="rId16"/>
    <p:sldLayoutId id="214748425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7B20-B808-E5B9-7227-1EF86D470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2035" y="1134472"/>
            <a:ext cx="7047221" cy="1825096"/>
          </a:xfrm>
        </p:spPr>
        <p:txBody>
          <a:bodyPr>
            <a:normAutofit fontScale="90000"/>
          </a:bodyPr>
          <a:lstStyle/>
          <a:p>
            <a:pPr algn="ctr"/>
            <a:r>
              <a:rPr lang="es-ES" b="1" dirty="0"/>
              <a:t>Sistema DE gestión comercial </a:t>
            </a:r>
            <a:endParaRPr lang="es-PE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21B1BA-C79F-CC00-DEBB-0026DD70C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599" y="3208748"/>
            <a:ext cx="6232035" cy="685800"/>
          </a:xfrm>
        </p:spPr>
        <p:txBody>
          <a:bodyPr/>
          <a:lstStyle/>
          <a:p>
            <a:r>
              <a:rPr lang="es-ES" b="1" dirty="0"/>
              <a:t>ASP.NET 8 C# CON ARQUITECTURA ONION</a:t>
            </a:r>
            <a:endParaRPr lang="es-PE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02BBDE-EA4A-45FB-B6BE-B2437E37C2A6}"/>
              </a:ext>
            </a:extLst>
          </p:cNvPr>
          <p:cNvSpPr txBox="1"/>
          <p:nvPr/>
        </p:nvSpPr>
        <p:spPr>
          <a:xfrm>
            <a:off x="357601" y="5567990"/>
            <a:ext cx="355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https://haciendolas.com</a:t>
            </a:r>
            <a:br>
              <a:rPr lang="es-ES" b="1" dirty="0"/>
            </a:br>
            <a:r>
              <a:rPr lang="es-ES" b="1" dirty="0"/>
              <a:t>https://negocioscastillo.com</a:t>
            </a:r>
            <a:endParaRPr lang="es-PE" b="1" dirty="0"/>
          </a:p>
        </p:txBody>
      </p:sp>
      <p:pic>
        <p:nvPicPr>
          <p:cNvPr id="2060" name="Picture 12" descr="Instalación SQL Server Express 2022 y Management Studio (SSMS) - JuacaxDev  - YouTube">
            <a:extLst>
              <a:ext uri="{FF2B5EF4-FFF2-40B4-BE49-F238E27FC236}">
                <a16:creationId xmlns:a16="http://schemas.microsoft.com/office/drawing/2014/main" id="{17BDBCC0-B004-E840-925F-1560F52B2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193" y="882680"/>
            <a:ext cx="2583640" cy="16650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PostgreSQL - NamuWiki">
            <a:extLst>
              <a:ext uri="{FF2B5EF4-FFF2-40B4-BE49-F238E27FC236}">
                <a16:creationId xmlns:a16="http://schemas.microsoft.com/office/drawing/2014/main" id="{A4EF31CB-980E-E412-FC18-48B675C97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530" y="2665619"/>
            <a:ext cx="3448435" cy="10862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Dự án ASP.NET Core MVC | Tự học ICT">
            <a:extLst>
              <a:ext uri="{FF2B5EF4-FFF2-40B4-BE49-F238E27FC236}">
                <a16:creationId xmlns:a16="http://schemas.microsoft.com/office/drawing/2014/main" id="{1B831F85-7599-ED3C-4976-8CF7DC0F5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445" y="3837788"/>
            <a:ext cx="2583640" cy="15737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151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6A164-A8E9-248A-071A-4CF6B528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9DD29-D213-A4CA-DE2D-8348B153D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9173" y="385769"/>
            <a:ext cx="7047221" cy="1825096"/>
          </a:xfrm>
        </p:spPr>
        <p:txBody>
          <a:bodyPr>
            <a:normAutofit/>
          </a:bodyPr>
          <a:lstStyle/>
          <a:p>
            <a:pPr algn="ctr"/>
            <a:r>
              <a:rPr lang="es-PE" dirty="0"/>
              <a:t>Qué es ASP.NET Core MVC</a:t>
            </a:r>
            <a:endParaRPr lang="es-PE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AF6FDD6-3303-8637-2786-C6635353469E}"/>
              </a:ext>
            </a:extLst>
          </p:cNvPr>
          <p:cNvSpPr txBox="1"/>
          <p:nvPr/>
        </p:nvSpPr>
        <p:spPr>
          <a:xfrm>
            <a:off x="357601" y="5567990"/>
            <a:ext cx="355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https://haciendolas.com</a:t>
            </a:r>
            <a:br>
              <a:rPr lang="es-ES" b="1" dirty="0"/>
            </a:br>
            <a:r>
              <a:rPr lang="es-ES" b="1" dirty="0"/>
              <a:t>https://negocioscastillo.com</a:t>
            </a:r>
            <a:endParaRPr lang="es-PE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C48FD9-EF1F-98D2-1E6F-A67D329F2426}"/>
              </a:ext>
            </a:extLst>
          </p:cNvPr>
          <p:cNvSpPr txBox="1">
            <a:spLocks/>
          </p:cNvSpPr>
          <p:nvPr/>
        </p:nvSpPr>
        <p:spPr>
          <a:xfrm>
            <a:off x="1595597" y="2291390"/>
            <a:ext cx="8972168" cy="227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DCDCDC"/>
                </a:solidFill>
              </a:defRPr>
            </a:pPr>
            <a:endParaRPr lang="es-ES" sz="2400" dirty="0">
              <a:solidFill>
                <a:srgbClr val="DCDCD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400" dirty="0">
                <a:solidFill>
                  <a:srgbClr val="DCDCDC"/>
                </a:solidFill>
              </a:rPr>
              <a:t>Framework para aplicaciones web con C# y .NET Core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400" dirty="0">
                <a:solidFill>
                  <a:srgbClr val="DCDCDC"/>
                </a:solidFill>
              </a:rPr>
              <a:t>Sigue el patrón Modelo-Vista-Controlador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400" dirty="0">
                <a:solidFill>
                  <a:srgbClr val="DCDCDC"/>
                </a:solidFill>
              </a:rPr>
              <a:t>Permite separar la lógica de negocios.</a:t>
            </a:r>
          </a:p>
        </p:txBody>
      </p:sp>
    </p:spTree>
    <p:extLst>
      <p:ext uri="{BB962C8B-B14F-4D97-AF65-F5344CB8AC3E}">
        <p14:creationId xmlns:p14="http://schemas.microsoft.com/office/powerpoint/2010/main" val="3223622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AEF2F-54B7-B026-729D-DDD82854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8F1E4-366B-9F32-426F-AD7BAB3E7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9173" y="385769"/>
            <a:ext cx="7847833" cy="1825096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/>
              <a:t>Qué es la Arquitectura </a:t>
            </a:r>
            <a:r>
              <a:rPr lang="es-ES" dirty="0" err="1"/>
              <a:t>Onion</a:t>
            </a:r>
            <a:endParaRPr lang="es-PE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7FFF4D8-1860-8B90-6ED5-661D021AC690}"/>
              </a:ext>
            </a:extLst>
          </p:cNvPr>
          <p:cNvSpPr txBox="1"/>
          <p:nvPr/>
        </p:nvSpPr>
        <p:spPr>
          <a:xfrm>
            <a:off x="357601" y="5567990"/>
            <a:ext cx="355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https://haciendolas.com</a:t>
            </a:r>
            <a:br>
              <a:rPr lang="es-ES" b="1" dirty="0"/>
            </a:br>
            <a:r>
              <a:rPr lang="es-ES" b="1" dirty="0"/>
              <a:t>https://negocioscastillo.com</a:t>
            </a:r>
            <a:endParaRPr lang="es-P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F278-4DAC-3C3F-4609-EB628C1B987E}"/>
              </a:ext>
            </a:extLst>
          </p:cNvPr>
          <p:cNvSpPr txBox="1">
            <a:spLocks/>
          </p:cNvSpPr>
          <p:nvPr/>
        </p:nvSpPr>
        <p:spPr>
          <a:xfrm>
            <a:off x="2083227" y="2183207"/>
            <a:ext cx="8229600" cy="28306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DCDCDC"/>
                </a:solidFill>
              </a:defRPr>
            </a:pPr>
            <a:endParaRPr lang="es-ES" sz="2400" dirty="0">
              <a:solidFill>
                <a:srgbClr val="DCDCD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400" dirty="0">
                <a:solidFill>
                  <a:srgbClr val="DCDCDC"/>
                </a:solidFill>
              </a:rPr>
              <a:t>Patrón de diseño centrado en el dominio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400" dirty="0">
                <a:solidFill>
                  <a:srgbClr val="DCDCDC"/>
                </a:solidFill>
              </a:rPr>
              <a:t>Separa el núcleo del negocio de la infraestructura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400" dirty="0">
                <a:solidFill>
                  <a:srgbClr val="DCDCDC"/>
                </a:solidFill>
              </a:rPr>
              <a:t>Promueve el bajo acoplamiento: </a:t>
            </a:r>
            <a:r>
              <a:rPr lang="es-ES" sz="1900" dirty="0">
                <a:solidFill>
                  <a:srgbClr val="DCDCDC"/>
                </a:solidFill>
              </a:rPr>
              <a:t>Que los componentes (clases, módulos, capas) del sistema dependen lo menos posible unos de otros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400" dirty="0">
                <a:solidFill>
                  <a:srgbClr val="DCDCDC"/>
                </a:solidFill>
              </a:rPr>
              <a:t>Promueve alta cohesión: </a:t>
            </a:r>
            <a:r>
              <a:rPr lang="es-ES" sz="1900" dirty="0">
                <a:solidFill>
                  <a:srgbClr val="DCDCDC"/>
                </a:solidFill>
              </a:rPr>
              <a:t>Que cada componente del sistema tiene responsabilidades claras y relacionadas entre sí.</a:t>
            </a:r>
          </a:p>
        </p:txBody>
      </p:sp>
    </p:spTree>
    <p:extLst>
      <p:ext uri="{BB962C8B-B14F-4D97-AF65-F5344CB8AC3E}">
        <p14:creationId xmlns:p14="http://schemas.microsoft.com/office/powerpoint/2010/main" val="245305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AEAD1-E609-FC97-A3CC-DCC7B3E4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B29EF-C46E-FAC2-ACCC-6D93AB499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9173" y="385769"/>
            <a:ext cx="7847833" cy="1825096"/>
          </a:xfrm>
        </p:spPr>
        <p:txBody>
          <a:bodyPr>
            <a:normAutofit/>
          </a:bodyPr>
          <a:lstStyle/>
          <a:p>
            <a:pPr algn="ctr"/>
            <a:r>
              <a:rPr lang="es-PE" dirty="0"/>
              <a:t>Principios Fundamentales</a:t>
            </a:r>
            <a:endParaRPr lang="es-PE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B7F65F5-9644-CDDA-7A1D-24D59FA93DA1}"/>
              </a:ext>
            </a:extLst>
          </p:cNvPr>
          <p:cNvSpPr txBox="1"/>
          <p:nvPr/>
        </p:nvSpPr>
        <p:spPr>
          <a:xfrm>
            <a:off x="357601" y="5567990"/>
            <a:ext cx="355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https://haciendolas.com</a:t>
            </a:r>
            <a:br>
              <a:rPr lang="es-ES" b="1" dirty="0"/>
            </a:br>
            <a:r>
              <a:rPr lang="es-ES" b="1" dirty="0"/>
              <a:t>https://negocioscastillo.com</a:t>
            </a:r>
            <a:endParaRPr lang="es-PE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C97872-08A6-87FD-BB3A-70CDB514831E}"/>
              </a:ext>
            </a:extLst>
          </p:cNvPr>
          <p:cNvSpPr txBox="1">
            <a:spLocks/>
          </p:cNvSpPr>
          <p:nvPr/>
        </p:nvSpPr>
        <p:spPr>
          <a:xfrm>
            <a:off x="2552957" y="2497724"/>
            <a:ext cx="7741588" cy="2149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400" dirty="0">
                <a:solidFill>
                  <a:srgbClr val="DCDCDC"/>
                </a:solidFill>
              </a:rPr>
              <a:t>Separación de responsabilidades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400" dirty="0">
                <a:solidFill>
                  <a:srgbClr val="DCDCDC"/>
                </a:solidFill>
              </a:rPr>
              <a:t>Inversión de dependencias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400" dirty="0">
                <a:solidFill>
                  <a:srgbClr val="DCDCDC"/>
                </a:solidFill>
              </a:rPr>
              <a:t>Independencia del </a:t>
            </a:r>
            <a:r>
              <a:rPr lang="es-ES" sz="2400" dirty="0" err="1">
                <a:solidFill>
                  <a:srgbClr val="DCDCDC"/>
                </a:solidFill>
              </a:rPr>
              <a:t>framework</a:t>
            </a:r>
            <a:endParaRPr lang="es-ES" sz="2400" dirty="0">
              <a:solidFill>
                <a:srgbClr val="DCDCD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273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069-2AE6-C121-540C-7684DA1D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29507-71EB-19C5-7303-BE3C62AAD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9173" y="385769"/>
            <a:ext cx="7847833" cy="1825096"/>
          </a:xfrm>
        </p:spPr>
        <p:txBody>
          <a:bodyPr>
            <a:normAutofit fontScale="90000"/>
          </a:bodyPr>
          <a:lstStyle/>
          <a:p>
            <a:pPr algn="ctr"/>
            <a:r>
              <a:rPr lang="es-PE" dirty="0"/>
              <a:t>Capas de la Arquitectura </a:t>
            </a:r>
            <a:r>
              <a:rPr lang="es-PE" dirty="0" err="1"/>
              <a:t>Onion</a:t>
            </a:r>
            <a:endParaRPr lang="es-PE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A5D56C-7A16-0F89-B44F-42D6FFAE65F4}"/>
              </a:ext>
            </a:extLst>
          </p:cNvPr>
          <p:cNvSpPr txBox="1"/>
          <p:nvPr/>
        </p:nvSpPr>
        <p:spPr>
          <a:xfrm>
            <a:off x="357601" y="5567990"/>
            <a:ext cx="355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https://haciendolas.com</a:t>
            </a:r>
            <a:br>
              <a:rPr lang="es-ES" b="1" dirty="0"/>
            </a:br>
            <a:r>
              <a:rPr lang="es-ES" b="1" dirty="0"/>
              <a:t>https://negocioscastillo.com</a:t>
            </a:r>
            <a:endParaRPr lang="es-PE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9D510E-1F4B-1FC3-4E80-8F8B72DD5CE3}"/>
              </a:ext>
            </a:extLst>
          </p:cNvPr>
          <p:cNvSpPr txBox="1">
            <a:spLocks/>
          </p:cNvSpPr>
          <p:nvPr/>
        </p:nvSpPr>
        <p:spPr>
          <a:xfrm>
            <a:off x="2178604" y="2210865"/>
            <a:ext cx="8410639" cy="3115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DCDCDC"/>
                </a:solidFill>
              </a:defRPr>
            </a:pPr>
            <a:endParaRPr lang="es-ES" sz="2800" dirty="0">
              <a:solidFill>
                <a:srgbClr val="DCDCDC"/>
              </a:solidFill>
            </a:endParaRPr>
          </a:p>
          <a:p>
            <a:pPr>
              <a:defRPr sz="2400">
                <a:solidFill>
                  <a:srgbClr val="DCDCDC"/>
                </a:solidFill>
              </a:defRPr>
            </a:pPr>
            <a:r>
              <a:rPr lang="es-ES" sz="2800" dirty="0">
                <a:solidFill>
                  <a:srgbClr val="DCDCDC"/>
                </a:solidFill>
              </a:rPr>
              <a:t>1. Dominio (Entidades y lógica del negocio)</a:t>
            </a:r>
          </a:p>
          <a:p>
            <a:pPr>
              <a:defRPr sz="2400">
                <a:solidFill>
                  <a:srgbClr val="DCDCDC"/>
                </a:solidFill>
              </a:defRPr>
            </a:pPr>
            <a:r>
              <a:rPr lang="es-ES" sz="2800" dirty="0">
                <a:solidFill>
                  <a:srgbClr val="DCDCDC"/>
                </a:solidFill>
              </a:rPr>
              <a:t>2. Aplicación (Casos de uso, interfaces)</a:t>
            </a:r>
          </a:p>
          <a:p>
            <a:pPr>
              <a:defRPr sz="2400">
                <a:solidFill>
                  <a:srgbClr val="DCDCDC"/>
                </a:solidFill>
              </a:defRPr>
            </a:pPr>
            <a:r>
              <a:rPr lang="es-ES" sz="2800" dirty="0">
                <a:solidFill>
                  <a:srgbClr val="DCDCDC"/>
                </a:solidFill>
              </a:rPr>
              <a:t>3. Infraestructura (ORM, servicios externos)</a:t>
            </a:r>
          </a:p>
          <a:p>
            <a:pPr>
              <a:defRPr sz="2400">
                <a:solidFill>
                  <a:srgbClr val="DCDCDC"/>
                </a:solidFill>
              </a:defRPr>
            </a:pPr>
            <a:r>
              <a:rPr lang="es-ES" sz="2800" dirty="0">
                <a:solidFill>
                  <a:srgbClr val="DCDCDC"/>
                </a:solidFill>
              </a:rPr>
              <a:t>4. Presentación (ASP.NET MVC, </a:t>
            </a:r>
            <a:r>
              <a:rPr lang="es-ES" sz="2800" dirty="0" err="1">
                <a:solidFill>
                  <a:srgbClr val="DCDCDC"/>
                </a:solidFill>
              </a:rPr>
              <a:t>Razor</a:t>
            </a:r>
            <a:r>
              <a:rPr lang="es-ES" sz="2800" dirty="0">
                <a:solidFill>
                  <a:srgbClr val="DCDCDC"/>
                </a:solidFill>
              </a:rPr>
              <a:t> </a:t>
            </a:r>
            <a:r>
              <a:rPr lang="es-ES" sz="2800" dirty="0" err="1">
                <a:solidFill>
                  <a:srgbClr val="DCDCDC"/>
                </a:solidFill>
              </a:rPr>
              <a:t>Views,Otros</a:t>
            </a:r>
            <a:r>
              <a:rPr lang="es-ES" sz="2800" dirty="0">
                <a:solidFill>
                  <a:srgbClr val="DCDCDC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4297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E605B-4A9A-308B-17BA-E2C70FDB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D36A0-DD34-51ED-1826-6359CCE1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750" y="361236"/>
            <a:ext cx="5325562" cy="1516674"/>
          </a:xfrm>
        </p:spPr>
        <p:txBody>
          <a:bodyPr>
            <a:normAutofit/>
          </a:bodyPr>
          <a:lstStyle/>
          <a:p>
            <a:pPr algn="ctr"/>
            <a:r>
              <a:rPr lang="es-PE" dirty="0"/>
              <a:t>Ventajas</a:t>
            </a:r>
            <a:endParaRPr lang="es-PE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BBFD725-B9A8-687B-805F-212D1A867463}"/>
              </a:ext>
            </a:extLst>
          </p:cNvPr>
          <p:cNvSpPr txBox="1"/>
          <p:nvPr/>
        </p:nvSpPr>
        <p:spPr>
          <a:xfrm>
            <a:off x="357601" y="5567990"/>
            <a:ext cx="355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https://haciendolas.com</a:t>
            </a:r>
            <a:br>
              <a:rPr lang="es-ES" b="1" dirty="0"/>
            </a:br>
            <a:r>
              <a:rPr lang="es-ES" b="1" dirty="0"/>
              <a:t>https://negocioscastillo.com</a:t>
            </a:r>
            <a:endParaRPr lang="es-P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E0724-325D-BDF8-D719-0B4A72761EE7}"/>
              </a:ext>
            </a:extLst>
          </p:cNvPr>
          <p:cNvSpPr txBox="1">
            <a:spLocks/>
          </p:cNvSpPr>
          <p:nvPr/>
        </p:nvSpPr>
        <p:spPr>
          <a:xfrm>
            <a:off x="1184935" y="2231466"/>
            <a:ext cx="4675817" cy="1837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DCDCDC"/>
                </a:solidFill>
              </a:rPr>
              <a:t>Alta mantenibilidad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DCDCDC"/>
                </a:solidFill>
              </a:rPr>
              <a:t>Bajo acoplamiento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DCDCDC"/>
                </a:solidFill>
              </a:rPr>
              <a:t>Fácil de testear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AF04F4-CD1B-1C30-4FE5-35DA62459F92}"/>
              </a:ext>
            </a:extLst>
          </p:cNvPr>
          <p:cNvSpPr txBox="1">
            <a:spLocks/>
          </p:cNvSpPr>
          <p:nvPr/>
        </p:nvSpPr>
        <p:spPr>
          <a:xfrm>
            <a:off x="6171690" y="587109"/>
            <a:ext cx="4743833" cy="12446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dirty="0"/>
              <a:t>Desventajas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07CB20-E0EC-19D6-EE79-94C99077A9AD}"/>
              </a:ext>
            </a:extLst>
          </p:cNvPr>
          <p:cNvSpPr txBox="1">
            <a:spLocks/>
          </p:cNvSpPr>
          <p:nvPr/>
        </p:nvSpPr>
        <p:spPr>
          <a:xfrm>
            <a:off x="5860752" y="2231467"/>
            <a:ext cx="5615275" cy="1788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DCDCDC"/>
                </a:solidFill>
              </a:rPr>
              <a:t>Mayor complejidad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DCDCDC"/>
                </a:solidFill>
              </a:rPr>
              <a:t>No recomendado para proyectos muy pequeños</a:t>
            </a:r>
          </a:p>
        </p:txBody>
      </p:sp>
    </p:spTree>
    <p:extLst>
      <p:ext uri="{BB962C8B-B14F-4D97-AF65-F5344CB8AC3E}">
        <p14:creationId xmlns:p14="http://schemas.microsoft.com/office/powerpoint/2010/main" val="1285843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5B0D7-89FC-A2DA-E290-CEEAC7EA7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4B68B-9549-E328-16A0-1780E612F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9172" y="643679"/>
            <a:ext cx="7847833" cy="1825096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Integración de </a:t>
            </a:r>
            <a:r>
              <a:rPr lang="es-ES" dirty="0" err="1"/>
              <a:t>Onion</a:t>
            </a:r>
            <a:r>
              <a:rPr lang="es-ES" dirty="0"/>
              <a:t> con MVC</a:t>
            </a:r>
            <a:endParaRPr lang="es-PE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849050-986F-5620-65D4-60EC9AE81369}"/>
              </a:ext>
            </a:extLst>
          </p:cNvPr>
          <p:cNvSpPr txBox="1"/>
          <p:nvPr/>
        </p:nvSpPr>
        <p:spPr>
          <a:xfrm>
            <a:off x="357601" y="5567990"/>
            <a:ext cx="355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https://haciendolas.com</a:t>
            </a:r>
            <a:br>
              <a:rPr lang="es-ES" b="1" dirty="0"/>
            </a:br>
            <a:r>
              <a:rPr lang="es-ES" b="1" dirty="0"/>
              <a:t>https://negocioscastillo.com</a:t>
            </a:r>
            <a:endParaRPr lang="es-P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2C0E8-4CD7-DACA-A61F-816EF0CA0A0B}"/>
              </a:ext>
            </a:extLst>
          </p:cNvPr>
          <p:cNvSpPr txBox="1">
            <a:spLocks/>
          </p:cNvSpPr>
          <p:nvPr/>
        </p:nvSpPr>
        <p:spPr>
          <a:xfrm>
            <a:off x="1830077" y="2468775"/>
            <a:ext cx="9682772" cy="23181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DCDCDC"/>
                </a:solidFill>
              </a:defRPr>
            </a:pPr>
            <a:endParaRPr lang="es-ES" sz="2800" dirty="0">
              <a:solidFill>
                <a:srgbClr val="DCDCD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800" dirty="0">
                <a:solidFill>
                  <a:srgbClr val="DCDCDC"/>
                </a:solidFill>
              </a:rPr>
              <a:t>ASP.NET MVC actúa como capa de Presentación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800" dirty="0">
                <a:solidFill>
                  <a:srgbClr val="DCDCDC"/>
                </a:solidFill>
              </a:rPr>
              <a:t>Usa servicios de la capa Aplicación mediante DI(</a:t>
            </a:r>
            <a:r>
              <a:rPr lang="es-PE" sz="2400" dirty="0"/>
              <a:t>Inyección de Dependencias</a:t>
            </a:r>
            <a:r>
              <a:rPr lang="es-ES" sz="2800" dirty="0">
                <a:solidFill>
                  <a:srgbClr val="DCDCDC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800" dirty="0">
                <a:solidFill>
                  <a:srgbClr val="DCDCDC"/>
                </a:solidFill>
              </a:rPr>
              <a:t>El Dominio es completamente independiente</a:t>
            </a:r>
          </a:p>
        </p:txBody>
      </p:sp>
    </p:spTree>
    <p:extLst>
      <p:ext uri="{BB962C8B-B14F-4D97-AF65-F5344CB8AC3E}">
        <p14:creationId xmlns:p14="http://schemas.microsoft.com/office/powerpoint/2010/main" val="855526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66A92-418F-7388-ECA3-C8A20E24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855BF-844A-F169-3462-958DC8C22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9172" y="643679"/>
            <a:ext cx="7847833" cy="1825096"/>
          </a:xfrm>
        </p:spPr>
        <p:txBody>
          <a:bodyPr>
            <a:normAutofit fontScale="90000"/>
          </a:bodyPr>
          <a:lstStyle/>
          <a:p>
            <a:pPr algn="ctr"/>
            <a:r>
              <a:rPr lang="es-PE" dirty="0"/>
              <a:t>Beneficios de ASP.NET MVC + </a:t>
            </a:r>
            <a:r>
              <a:rPr lang="es-PE" dirty="0" err="1"/>
              <a:t>Onion</a:t>
            </a:r>
            <a:endParaRPr lang="es-PE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1CC6FD-90C0-FDCF-3A9C-D01847D127FA}"/>
              </a:ext>
            </a:extLst>
          </p:cNvPr>
          <p:cNvSpPr txBox="1"/>
          <p:nvPr/>
        </p:nvSpPr>
        <p:spPr>
          <a:xfrm>
            <a:off x="357601" y="5567990"/>
            <a:ext cx="355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https://haciendolas.com</a:t>
            </a:r>
            <a:br>
              <a:rPr lang="es-ES" b="1" dirty="0"/>
            </a:br>
            <a:r>
              <a:rPr lang="es-ES" b="1" dirty="0"/>
              <a:t>https://negocioscastillo.com</a:t>
            </a:r>
            <a:endParaRPr lang="es-PE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35D7A6-7204-17F3-DAC2-9D45C16A5E23}"/>
              </a:ext>
            </a:extLst>
          </p:cNvPr>
          <p:cNvSpPr txBox="1">
            <a:spLocks/>
          </p:cNvSpPr>
          <p:nvPr/>
        </p:nvSpPr>
        <p:spPr>
          <a:xfrm>
            <a:off x="2136475" y="2468776"/>
            <a:ext cx="8793367" cy="2888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DCDCDC"/>
                </a:solidFill>
              </a:defRPr>
            </a:pPr>
            <a:endParaRPr lang="es-ES" sz="2800" dirty="0">
              <a:solidFill>
                <a:srgbClr val="DCDCDC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800" dirty="0">
                <a:solidFill>
                  <a:srgbClr val="DCDCDC"/>
                </a:solidFill>
              </a:rPr>
              <a:t>Código limpio y organizado por capas</a:t>
            </a:r>
          </a:p>
          <a:p>
            <a:pPr marL="457200" indent="-4572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800" dirty="0">
                <a:solidFill>
                  <a:srgbClr val="DCDCDC"/>
                </a:solidFill>
              </a:rPr>
              <a:t>Fácil de probar y mantener</a:t>
            </a:r>
          </a:p>
          <a:p>
            <a:pPr marL="457200" indent="-457200">
              <a:buFont typeface="Arial" panose="020B0604020202020204" pitchFamily="34" charset="0"/>
              <a:buChar char="•"/>
              <a:defRPr sz="2400">
                <a:solidFill>
                  <a:srgbClr val="DCDCDC"/>
                </a:solidFill>
              </a:defRPr>
            </a:pPr>
            <a:r>
              <a:rPr lang="es-ES" sz="2800" dirty="0">
                <a:solidFill>
                  <a:srgbClr val="DCDCDC"/>
                </a:solidFill>
              </a:rPr>
              <a:t>Mayor flexibilidad para crecimiento futuro</a:t>
            </a:r>
          </a:p>
        </p:txBody>
      </p:sp>
    </p:spTree>
    <p:extLst>
      <p:ext uri="{BB962C8B-B14F-4D97-AF65-F5344CB8AC3E}">
        <p14:creationId xmlns:p14="http://schemas.microsoft.com/office/powerpoint/2010/main" val="2555245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CC374-1187-2EE5-15A4-F19C0E16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9C12079-70FC-006F-AD0F-09F64A00ECD4}"/>
              </a:ext>
            </a:extLst>
          </p:cNvPr>
          <p:cNvSpPr txBox="1"/>
          <p:nvPr/>
        </p:nvSpPr>
        <p:spPr>
          <a:xfrm>
            <a:off x="357601" y="5567990"/>
            <a:ext cx="355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https://haciendolas.com</a:t>
            </a:r>
            <a:br>
              <a:rPr lang="es-ES" b="1" dirty="0"/>
            </a:br>
            <a:r>
              <a:rPr lang="es-ES" b="1" dirty="0"/>
              <a:t>https://negocioscastillo.com</a:t>
            </a:r>
            <a:endParaRPr lang="es-PE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01A4256-AA76-59C1-34C1-A272AC080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698"/>
            <a:ext cx="5246262" cy="549971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331821D-CC9A-8E5A-1AB7-4ECF38C2C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439" y="121698"/>
            <a:ext cx="6784100" cy="544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50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2B250-3601-C4EB-39FC-4ACE0334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E4C87AE-BE9E-1190-4F33-3BEEA6078045}"/>
              </a:ext>
            </a:extLst>
          </p:cNvPr>
          <p:cNvSpPr txBox="1"/>
          <p:nvPr/>
        </p:nvSpPr>
        <p:spPr>
          <a:xfrm>
            <a:off x="357601" y="5567990"/>
            <a:ext cx="355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https://haciendolas.com</a:t>
            </a:r>
            <a:br>
              <a:rPr lang="es-ES" b="1" dirty="0"/>
            </a:br>
            <a:r>
              <a:rPr lang="es-ES" b="1" dirty="0"/>
              <a:t>https://negocioscastillo.com</a:t>
            </a:r>
            <a:endParaRPr lang="es-PE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47A3C5-0BB9-E914-11BD-83D8975B2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6" t="17371" r="25887" b="7355"/>
          <a:stretch>
            <a:fillRect/>
          </a:stretch>
        </p:blipFill>
        <p:spPr>
          <a:xfrm>
            <a:off x="2852873" y="1586061"/>
            <a:ext cx="4918508" cy="462826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B857DE03-2C9D-46F1-1239-90963EA1C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372" y="1586061"/>
            <a:ext cx="4561420" cy="45614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4A30926-A377-DF71-6618-A5756172C8D3}"/>
              </a:ext>
            </a:extLst>
          </p:cNvPr>
          <p:cNvSpPr txBox="1"/>
          <p:nvPr/>
        </p:nvSpPr>
        <p:spPr>
          <a:xfrm>
            <a:off x="356246" y="231844"/>
            <a:ext cx="1130600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¿Quién es Jeffrey Palermo?</a:t>
            </a:r>
          </a:p>
          <a:p>
            <a:r>
              <a:rPr lang="es-ES" dirty="0"/>
              <a:t>Es un </a:t>
            </a:r>
            <a:r>
              <a:rPr lang="es-ES" b="1" dirty="0"/>
              <a:t>arquitecto de software</a:t>
            </a:r>
            <a:r>
              <a:rPr lang="es-ES" dirty="0"/>
              <a:t> y </a:t>
            </a:r>
            <a:r>
              <a:rPr lang="es-ES" b="1" dirty="0"/>
              <a:t>consultor</a:t>
            </a:r>
            <a:r>
              <a:rPr lang="es-ES" dirty="0"/>
              <a:t> con experiencia en tecnologías Microsoft (.NET, C#).</a:t>
            </a:r>
          </a:p>
          <a:p>
            <a:r>
              <a:rPr lang="es-ES" dirty="0"/>
              <a:t>Fue uno de los primeros en proponer una alternativa a la arquitectura en capas tradicional</a:t>
            </a:r>
          </a:p>
          <a:p>
            <a:r>
              <a:rPr lang="es-ES" dirty="0"/>
              <a:t>(</a:t>
            </a:r>
            <a:r>
              <a:rPr lang="es-ES" b="1" dirty="0"/>
              <a:t>N-</a:t>
            </a:r>
            <a:r>
              <a:rPr lang="es-ES" b="1" dirty="0" err="1"/>
              <a:t>Tier</a:t>
            </a:r>
            <a:r>
              <a:rPr lang="es-ES" b="1" dirty="0"/>
              <a:t> </a:t>
            </a:r>
            <a:r>
              <a:rPr lang="es-ES" b="1" dirty="0" err="1"/>
              <a:t>Architecture</a:t>
            </a:r>
            <a:r>
              <a:rPr lang="es-ES" dirty="0"/>
              <a:t>), que muchas veces tenía problemas de </a:t>
            </a:r>
            <a:r>
              <a:rPr lang="es-ES" b="1" dirty="0"/>
              <a:t>acoplamiento excesivo</a:t>
            </a:r>
            <a:r>
              <a:rPr lang="es-ES" dirty="0"/>
              <a:t> entre capas.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90C909E-FF71-D14F-5AE9-7CE2E08DD539}"/>
              </a:ext>
            </a:extLst>
          </p:cNvPr>
          <p:cNvSpPr txBox="1"/>
          <p:nvPr/>
        </p:nvSpPr>
        <p:spPr>
          <a:xfrm>
            <a:off x="356246" y="1535479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 err="1"/>
              <a:t>Website</a:t>
            </a:r>
            <a:r>
              <a:rPr lang="es-PE" b="1" dirty="0"/>
              <a:t>: https://jeffreypalermo.com</a:t>
            </a:r>
          </a:p>
        </p:txBody>
      </p:sp>
    </p:spTree>
    <p:extLst>
      <p:ext uri="{BB962C8B-B14F-4D97-AF65-F5344CB8AC3E}">
        <p14:creationId xmlns:p14="http://schemas.microsoft.com/office/powerpoint/2010/main" val="2508732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84E8-FF31-CBAE-BF29-C701483D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C99DBE5-FA75-EE20-2FA5-BFE6030C9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" y="6137"/>
            <a:ext cx="1217875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667F1DA-2EFB-E062-7BC9-D1A26DB89D35}"/>
              </a:ext>
            </a:extLst>
          </p:cNvPr>
          <p:cNvSpPr txBox="1"/>
          <p:nvPr/>
        </p:nvSpPr>
        <p:spPr>
          <a:xfrm>
            <a:off x="140875" y="363192"/>
            <a:ext cx="355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00B0F0"/>
                </a:solidFill>
              </a:rPr>
              <a:t>https://haciendolas.com</a:t>
            </a:r>
            <a:br>
              <a:rPr lang="es-ES" b="1" dirty="0">
                <a:solidFill>
                  <a:srgbClr val="00B0F0"/>
                </a:solidFill>
              </a:rPr>
            </a:br>
            <a:r>
              <a:rPr lang="es-ES" b="1" dirty="0">
                <a:solidFill>
                  <a:srgbClr val="00B0F0"/>
                </a:solidFill>
              </a:rPr>
              <a:t>https://negocioscastillo.com</a:t>
            </a:r>
            <a:endParaRPr lang="es-PE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507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C8BBA-EF47-53DC-EDF0-9C7FB8BF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B25CF0F-B67E-1C23-48AF-BB26BA9A2656}"/>
              </a:ext>
            </a:extLst>
          </p:cNvPr>
          <p:cNvSpPr txBox="1"/>
          <p:nvPr/>
        </p:nvSpPr>
        <p:spPr>
          <a:xfrm>
            <a:off x="318675" y="5906742"/>
            <a:ext cx="355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00B0F0"/>
                </a:solidFill>
              </a:rPr>
              <a:t>https://haciendolas.com</a:t>
            </a:r>
            <a:br>
              <a:rPr lang="es-ES" b="1" dirty="0">
                <a:solidFill>
                  <a:srgbClr val="00B0F0"/>
                </a:solidFill>
              </a:rPr>
            </a:br>
            <a:r>
              <a:rPr lang="es-ES" b="1" dirty="0">
                <a:solidFill>
                  <a:srgbClr val="00B0F0"/>
                </a:solidFill>
              </a:rPr>
              <a:t>https://negocioscastillo.com</a:t>
            </a:r>
            <a:endParaRPr lang="es-PE" b="1" dirty="0">
              <a:solidFill>
                <a:srgbClr val="00B0F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CE4CC2-FD11-6EE6-1204-18F536B9C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787" y="1056121"/>
            <a:ext cx="6281670" cy="485062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B7CBF1B-D864-3D7E-01A2-F26EC5EA3CD5}"/>
              </a:ext>
            </a:extLst>
          </p:cNvPr>
          <p:cNvSpPr txBox="1"/>
          <p:nvPr/>
        </p:nvSpPr>
        <p:spPr>
          <a:xfrm>
            <a:off x="3185952" y="489593"/>
            <a:ext cx="6281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ESTRUCTURA ARQUITECTURA ONION</a:t>
            </a:r>
            <a:endParaRPr lang="es-PE" sz="2400" b="1" dirty="0"/>
          </a:p>
        </p:txBody>
      </p:sp>
    </p:spTree>
    <p:extLst>
      <p:ext uri="{BB962C8B-B14F-4D97-AF65-F5344CB8AC3E}">
        <p14:creationId xmlns:p14="http://schemas.microsoft.com/office/powerpoint/2010/main" val="1918965335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669</TotalTime>
  <Words>432</Words>
  <Application>Microsoft Office PowerPoint</Application>
  <PresentationFormat>Panorámica</PresentationFormat>
  <Paragraphs>60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Arial</vt:lpstr>
      <vt:lpstr>Century Gothic</vt:lpstr>
      <vt:lpstr>Estela de condensación</vt:lpstr>
      <vt:lpstr>Sistema DE gestión comercial </vt:lpstr>
      <vt:lpstr>Qué es ASP.NET Core MVC</vt:lpstr>
      <vt:lpstr>Qué es la Arquitectura Onion</vt:lpstr>
      <vt:lpstr>Principios Fundamentales</vt:lpstr>
      <vt:lpstr>Capas de la Arquitectura Onion</vt:lpstr>
      <vt:lpstr>Ventajas</vt:lpstr>
      <vt:lpstr>Integración de Onion con MVC</vt:lpstr>
      <vt:lpstr>Beneficios de ASP.NET MVC + Onion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Rolando Castillo Rojas</dc:creator>
  <cp:lastModifiedBy>Joel Rolando Castillo Rojas</cp:lastModifiedBy>
  <cp:revision>32</cp:revision>
  <dcterms:created xsi:type="dcterms:W3CDTF">2025-08-03T04:48:32Z</dcterms:created>
  <dcterms:modified xsi:type="dcterms:W3CDTF">2025-08-14T04:15:52Z</dcterms:modified>
</cp:coreProperties>
</file>